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10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A786C-13AA-4EF1-A868-986AEF7286A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082BF-5329-4287-B57E-6ED37BB916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jpe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Data processing - Free miscellaneous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664" y="1778730"/>
            <a:ext cx="1025210" cy="102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Group 56"/>
          <p:cNvGrpSpPr/>
          <p:nvPr/>
        </p:nvGrpSpPr>
        <p:grpSpPr>
          <a:xfrm>
            <a:off x="58362" y="4657416"/>
            <a:ext cx="1580689" cy="1371642"/>
            <a:chOff x="2030428" y="4463164"/>
            <a:chExt cx="1580689" cy="1371642"/>
          </a:xfrm>
        </p:grpSpPr>
        <p:pic>
          <p:nvPicPr>
            <p:cNvPr id="1044" name="Picture 20" descr="Scope - Free computer icon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8169" y="4463164"/>
              <a:ext cx="1028543" cy="10285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/>
            <p:cNvSpPr txBox="1"/>
            <p:nvPr/>
          </p:nvSpPr>
          <p:spPr>
            <a:xfrm>
              <a:off x="2030428" y="5465474"/>
              <a:ext cx="1580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Top-k retrieval</a:t>
              </a:r>
              <a:endParaRPr lang="en-US" dirty="0"/>
            </a:p>
          </p:txBody>
        </p:sp>
      </p:grpSp>
      <p:pic>
        <p:nvPicPr>
          <p:cNvPr id="1038" name="Picture 14" descr="GraphRAG: New tool for complex data discovery now on GitHub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850" y="5363077"/>
            <a:ext cx="1095820" cy="88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atabase icon vector image can be used for user interface | Premium Vec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24" y="3900393"/>
            <a:ext cx="1095820" cy="109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Llm Images – Browse 23,774 Stock Photos, Vectors, and Video | Adobe Stoc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426" y="5192810"/>
            <a:ext cx="1228724" cy="122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7128150" y="5890738"/>
            <a:ext cx="12339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81" name="Group 1080"/>
          <p:cNvGrpSpPr/>
          <p:nvPr/>
        </p:nvGrpSpPr>
        <p:grpSpPr>
          <a:xfrm>
            <a:off x="9207706" y="232120"/>
            <a:ext cx="1025210" cy="1218635"/>
            <a:chOff x="9207706" y="150387"/>
            <a:chExt cx="1025210" cy="1218635"/>
          </a:xfrm>
        </p:grpSpPr>
        <p:pic>
          <p:nvPicPr>
            <p:cNvPr id="1042" name="Picture 18" descr="Download Free Query Icons in PNG &amp; SV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7706" y="150387"/>
              <a:ext cx="1025210" cy="10252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9218040" y="999690"/>
              <a:ext cx="787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Query</a:t>
              </a:r>
              <a:endParaRPr lang="en-US" dirty="0"/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 flipH="1" flipV="1">
            <a:off x="6882868" y="735835"/>
            <a:ext cx="1741170" cy="8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5858191" y="23709"/>
            <a:ext cx="1025210" cy="1394542"/>
            <a:chOff x="4411492" y="890676"/>
            <a:chExt cx="1025210" cy="1394542"/>
          </a:xfrm>
        </p:grpSpPr>
        <p:pic>
          <p:nvPicPr>
            <p:cNvPr id="1034" name="Picture 10" descr="Fastapi Icon icon - Free Download PNG &amp; SVG | Streamline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1492" y="890676"/>
              <a:ext cx="1025210" cy="10252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4453134" y="1915886"/>
              <a:ext cx="941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FastAPI</a:t>
              </a:r>
              <a:endParaRPr lang="en-US" dirty="0"/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>
            <a:off x="9571866" y="1403872"/>
            <a:ext cx="0" cy="81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8987257" y="2230823"/>
            <a:ext cx="1649234" cy="1701209"/>
            <a:chOff x="2054664" y="2421546"/>
            <a:chExt cx="1649234" cy="1701209"/>
          </a:xfrm>
        </p:grpSpPr>
        <p:pic>
          <p:nvPicPr>
            <p:cNvPr id="1030" name="Picture 6" descr="localstorage · GitHub Topics · GitHub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9633" y="2421546"/>
              <a:ext cx="936171" cy="936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2054664" y="3476424"/>
              <a:ext cx="16492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Chat history</a:t>
              </a:r>
              <a:endParaRPr lang="en-US" dirty="0"/>
            </a:p>
            <a:p>
              <a:pPr algn="ctr"/>
              <a:r>
                <a:rPr lang="en-US" dirty="0"/>
                <a:t>(Local storage)</a:t>
              </a:r>
              <a:endParaRPr lang="en-US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116207" y="4838678"/>
            <a:ext cx="1813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665477" y="5890738"/>
            <a:ext cx="10757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1404398" y="4462908"/>
            <a:ext cx="1134636" cy="611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750334" y="5551948"/>
            <a:ext cx="1056540" cy="857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87114" y="6315005"/>
            <a:ext cx="1278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 RAG</a:t>
            </a:r>
            <a:endParaRPr lang="en-US" dirty="0"/>
          </a:p>
        </p:txBody>
      </p:sp>
      <p:cxnSp>
        <p:nvCxnSpPr>
          <p:cNvPr id="33" name="Straight Arrow Connector 32"/>
          <p:cNvCxnSpPr>
            <a:stCxn id="5" idx="2"/>
            <a:endCxn id="1040" idx="3"/>
          </p:cNvCxnSpPr>
          <p:nvPr/>
        </p:nvCxnSpPr>
        <p:spPr>
          <a:xfrm flipH="1">
            <a:off x="4507287" y="4208908"/>
            <a:ext cx="704850" cy="239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2" name="Group 51"/>
          <p:cNvGrpSpPr/>
          <p:nvPr/>
        </p:nvGrpSpPr>
        <p:grpSpPr>
          <a:xfrm>
            <a:off x="8589852" y="5074536"/>
            <a:ext cx="1099990" cy="1586470"/>
            <a:chOff x="4725974" y="2032264"/>
            <a:chExt cx="1099990" cy="1586470"/>
          </a:xfrm>
        </p:grpSpPr>
        <p:pic>
          <p:nvPicPr>
            <p:cNvPr id="1052" name="Picture 28" descr="Learning Generic Blue icon | Freepik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0144" y="2032264"/>
              <a:ext cx="1095820" cy="1095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/>
            <p:cNvSpPr txBox="1"/>
            <p:nvPr/>
          </p:nvSpPr>
          <p:spPr>
            <a:xfrm>
              <a:off x="4725974" y="3249402"/>
              <a:ext cx="920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Answer</a:t>
              </a:r>
              <a:endParaRPr lang="en-US" dirty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296496" y="631500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US" dirty="0"/>
          </a:p>
        </p:txBody>
      </p:sp>
      <p:grpSp>
        <p:nvGrpSpPr>
          <p:cNvPr id="1024" name="Group 1023"/>
          <p:cNvGrpSpPr/>
          <p:nvPr/>
        </p:nvGrpSpPr>
        <p:grpSpPr>
          <a:xfrm>
            <a:off x="2346791" y="203722"/>
            <a:ext cx="1610184" cy="1507177"/>
            <a:chOff x="4485816" y="2289092"/>
            <a:chExt cx="1610184" cy="1507177"/>
          </a:xfrm>
        </p:grpSpPr>
        <p:pic>
          <p:nvPicPr>
            <p:cNvPr id="1036" name="Picture 12" descr="Document Retrieval: Over 1,634 Royalty-Free Licensable Stock Illustrations  &amp; Drawings | Shutterstock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4" t="17908" r="14732" b="18894"/>
            <a:stretch>
              <a:fillRect/>
            </a:stretch>
          </p:blipFill>
          <p:spPr bwMode="auto">
            <a:xfrm>
              <a:off x="4564368" y="2289092"/>
              <a:ext cx="1385208" cy="1172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/>
            <p:cNvSpPr txBox="1"/>
            <p:nvPr/>
          </p:nvSpPr>
          <p:spPr>
            <a:xfrm>
              <a:off x="4485816" y="3426937"/>
              <a:ext cx="1610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Scope filtering</a:t>
              </a:r>
              <a:endParaRPr lang="en-US" dirty="0"/>
            </a:p>
          </p:txBody>
        </p:sp>
      </p:grpSp>
      <p:cxnSp>
        <p:nvCxnSpPr>
          <p:cNvPr id="59" name="Straight Arrow Connector 58"/>
          <p:cNvCxnSpPr/>
          <p:nvPr/>
        </p:nvCxnSpPr>
        <p:spPr>
          <a:xfrm flipH="1">
            <a:off x="3828651" y="732316"/>
            <a:ext cx="1979930" cy="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8" idx="2"/>
          </p:cNvCxnSpPr>
          <p:nvPr/>
        </p:nvCxnSpPr>
        <p:spPr>
          <a:xfrm>
            <a:off x="3151868" y="1711105"/>
            <a:ext cx="6985" cy="697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1" name="Straight Arrow Connector 1030"/>
          <p:cNvCxnSpPr/>
          <p:nvPr/>
        </p:nvCxnSpPr>
        <p:spPr>
          <a:xfrm>
            <a:off x="5857695" y="1524432"/>
            <a:ext cx="1695865" cy="1238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3" name="Straight Arrow Connector 1032"/>
          <p:cNvCxnSpPr>
            <a:stCxn id="1059" idx="2"/>
          </p:cNvCxnSpPr>
          <p:nvPr/>
        </p:nvCxnSpPr>
        <p:spPr>
          <a:xfrm flipH="1">
            <a:off x="6946068" y="4306516"/>
            <a:ext cx="1457389" cy="1132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1" name="Straight Arrow Connector 1040"/>
          <p:cNvCxnSpPr>
            <a:endCxn id="21" idx="2"/>
          </p:cNvCxnSpPr>
          <p:nvPr/>
        </p:nvCxnSpPr>
        <p:spPr>
          <a:xfrm flipV="1">
            <a:off x="9516539" y="3932032"/>
            <a:ext cx="295335" cy="1078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5" name="Straight Arrow Connector 1044"/>
          <p:cNvCxnSpPr/>
          <p:nvPr/>
        </p:nvCxnSpPr>
        <p:spPr>
          <a:xfrm>
            <a:off x="6513788" y="4657498"/>
            <a:ext cx="0" cy="55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3" name="Connector: Elbow 1052"/>
          <p:cNvCxnSpPr>
            <a:endCxn id="1042" idx="3"/>
          </p:cNvCxnSpPr>
          <p:nvPr/>
        </p:nvCxnSpPr>
        <p:spPr>
          <a:xfrm rot="5400000" flipH="1" flipV="1">
            <a:off x="7144681" y="3125252"/>
            <a:ext cx="5468762" cy="707708"/>
          </a:xfrm>
          <a:prstGeom prst="bentConnector4">
            <a:avLst>
              <a:gd name="adj1" fmla="val -158"/>
              <a:gd name="adj2" fmla="val 23156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1" name="Group 1060"/>
          <p:cNvGrpSpPr/>
          <p:nvPr/>
        </p:nvGrpSpPr>
        <p:grpSpPr>
          <a:xfrm>
            <a:off x="7210374" y="2671339"/>
            <a:ext cx="2386166" cy="1635177"/>
            <a:chOff x="7530346" y="3008815"/>
            <a:chExt cx="2386166" cy="1635177"/>
          </a:xfrm>
        </p:grpSpPr>
        <p:pic>
          <p:nvPicPr>
            <p:cNvPr id="1054" name="Picture 30" descr="Backend - Free seo and web icons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7941" y="3008815"/>
              <a:ext cx="1228724" cy="1228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9" name="TextBox 1058"/>
            <p:cNvSpPr txBox="1"/>
            <p:nvPr/>
          </p:nvSpPr>
          <p:spPr>
            <a:xfrm>
              <a:off x="7530346" y="4274660"/>
              <a:ext cx="2386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Conversation memory</a:t>
              </a:r>
              <a:endParaRPr lang="en-US" dirty="0"/>
            </a:p>
          </p:txBody>
        </p:sp>
      </p:grpSp>
      <p:cxnSp>
        <p:nvCxnSpPr>
          <p:cNvPr id="1068" name="Straight Arrow Connector 1067"/>
          <p:cNvCxnSpPr/>
          <p:nvPr/>
        </p:nvCxnSpPr>
        <p:spPr>
          <a:xfrm flipV="1">
            <a:off x="9875183" y="1403872"/>
            <a:ext cx="0" cy="773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3" name="Oval 1072"/>
          <p:cNvSpPr/>
          <p:nvPr/>
        </p:nvSpPr>
        <p:spPr>
          <a:xfrm>
            <a:off x="-282921" y="1081278"/>
            <a:ext cx="2330067" cy="520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Preprocessing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74" name="Straight Arrow Connector 1073"/>
          <p:cNvCxnSpPr>
            <a:stCxn id="2" idx="3"/>
          </p:cNvCxnSpPr>
          <p:nvPr/>
        </p:nvCxnSpPr>
        <p:spPr>
          <a:xfrm>
            <a:off x="4665457" y="3143981"/>
            <a:ext cx="1409700" cy="844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1856105" y="2555875"/>
            <a:ext cx="2809240" cy="11760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>
              <a:buNone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 &amp; session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l">
              <a:buNone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&amp; scope filtering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l">
              <a:buNone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retriever (BM25 + FAISS + RRF)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59680" y="3738880"/>
            <a:ext cx="2809240" cy="11760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sym typeface="+mn-ea"/>
              </a:rPr>
              <a:t>Embedding(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text-embedding-3-small,</a:t>
            </a:r>
            <a:endParaRPr lang="en-US" altLang="en-US" dirty="0">
              <a:solidFill>
                <a:schemeClr val="tx1"/>
              </a:solidFill>
            </a:endParaRPr>
          </a:p>
          <a:p>
            <a:pPr algn="ctr"/>
            <a:r>
              <a:rPr lang="en-US" altLang="en-US" dirty="0">
                <a:solidFill>
                  <a:schemeClr val="tx1"/>
                </a:solidFill>
                <a:sym typeface="+mn-ea"/>
              </a:rPr>
              <a:t>L2-normalized, IndexFlatIP)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-42603" y="4205931"/>
            <a:ext cx="1580689" cy="1371642"/>
            <a:chOff x="2030428" y="4463164"/>
            <a:chExt cx="1580689" cy="1371642"/>
          </a:xfrm>
        </p:grpSpPr>
        <p:pic>
          <p:nvPicPr>
            <p:cNvPr id="1044" name="Picture 20" descr="Scope - Free computer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8169" y="4463164"/>
              <a:ext cx="1028543" cy="10285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/>
            <p:cNvSpPr txBox="1"/>
            <p:nvPr/>
          </p:nvSpPr>
          <p:spPr>
            <a:xfrm>
              <a:off x="2030428" y="5465474"/>
              <a:ext cx="1580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Top-k retrieval</a:t>
              </a:r>
              <a:endParaRPr lang="en-US" dirty="0"/>
            </a:p>
          </p:txBody>
        </p:sp>
      </p:grpSp>
      <p:pic>
        <p:nvPicPr>
          <p:cNvPr id="1038" name="Picture 14" descr="GraphRAG: New tool for complex data discovery now on GitHub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350" y="5765667"/>
            <a:ext cx="1095820" cy="88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Llm Images – Browse 23,774 Stock Photos, Vectors, and Video | Adobe 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381" y="5425220"/>
            <a:ext cx="1228724" cy="122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V="1">
            <a:off x="6841765" y="6196808"/>
            <a:ext cx="1454150" cy="2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81" name="Group 1080"/>
          <p:cNvGrpSpPr/>
          <p:nvPr/>
        </p:nvGrpSpPr>
        <p:grpSpPr>
          <a:xfrm>
            <a:off x="9690306" y="28285"/>
            <a:ext cx="1025210" cy="1218635"/>
            <a:chOff x="9207706" y="150387"/>
            <a:chExt cx="1025210" cy="1218635"/>
          </a:xfrm>
        </p:grpSpPr>
        <p:pic>
          <p:nvPicPr>
            <p:cNvPr id="1042" name="Picture 18" descr="Download Free Query Icons in PNG &amp; SV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7706" y="150387"/>
              <a:ext cx="1025210" cy="10252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9218040" y="999690"/>
              <a:ext cx="787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Query</a:t>
              </a:r>
              <a:endParaRPr lang="en-US" dirty="0"/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 flipH="1" flipV="1">
            <a:off x="6882868" y="532000"/>
            <a:ext cx="1741170" cy="8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5858191" y="28789"/>
            <a:ext cx="1025210" cy="1394542"/>
            <a:chOff x="4411492" y="890676"/>
            <a:chExt cx="1025210" cy="1394542"/>
          </a:xfrm>
        </p:grpSpPr>
        <p:pic>
          <p:nvPicPr>
            <p:cNvPr id="1034" name="Picture 10" descr="Fastapi Icon icon - Free Download PNG &amp; SVG | Streamlin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1492" y="890676"/>
              <a:ext cx="1025210" cy="10252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4453134" y="1915886"/>
              <a:ext cx="941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FastAPI</a:t>
              </a:r>
              <a:endParaRPr lang="en-US" dirty="0"/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>
            <a:off x="9921751" y="1200037"/>
            <a:ext cx="0" cy="81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9513037" y="1974283"/>
            <a:ext cx="1649234" cy="1701209"/>
            <a:chOff x="2054664" y="2421546"/>
            <a:chExt cx="1649234" cy="1701209"/>
          </a:xfrm>
        </p:grpSpPr>
        <p:pic>
          <p:nvPicPr>
            <p:cNvPr id="1030" name="Picture 6" descr="localstorage · GitHub Topics · GitHub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9633" y="2421546"/>
              <a:ext cx="936171" cy="936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2054664" y="3476424"/>
              <a:ext cx="16492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Chat history</a:t>
              </a:r>
              <a:endParaRPr lang="en-US" dirty="0"/>
            </a:p>
            <a:p>
              <a:pPr algn="ctr"/>
              <a:r>
                <a:rPr lang="en-US" dirty="0"/>
                <a:t>(Local storage)</a:t>
              </a:r>
              <a:endParaRPr lang="en-US" dirty="0"/>
            </a:p>
          </p:txBody>
        </p:sp>
      </p:grpSp>
      <p:cxnSp>
        <p:nvCxnSpPr>
          <p:cNvPr id="24" name="Straight Arrow Connector 23"/>
          <p:cNvCxnSpPr/>
          <p:nvPr/>
        </p:nvCxnSpPr>
        <p:spPr>
          <a:xfrm>
            <a:off x="3828547" y="6217763"/>
            <a:ext cx="10757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1538274" y="4212083"/>
            <a:ext cx="1583690" cy="723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038" idx="1"/>
          </p:cNvCxnSpPr>
          <p:nvPr/>
        </p:nvCxnSpPr>
        <p:spPr>
          <a:xfrm>
            <a:off x="1460139" y="5181108"/>
            <a:ext cx="1056640" cy="1028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25089" y="6529000"/>
            <a:ext cx="1278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 RAG</a:t>
            </a:r>
            <a:endParaRPr lang="en-US" dirty="0"/>
          </a:p>
        </p:txBody>
      </p:sp>
      <p:grpSp>
        <p:nvGrpSpPr>
          <p:cNvPr id="52" name="Group 51"/>
          <p:cNvGrpSpPr/>
          <p:nvPr/>
        </p:nvGrpSpPr>
        <p:grpSpPr>
          <a:xfrm>
            <a:off x="8589852" y="4942456"/>
            <a:ext cx="1099990" cy="1586470"/>
            <a:chOff x="4725974" y="2032264"/>
            <a:chExt cx="1099990" cy="1586470"/>
          </a:xfrm>
        </p:grpSpPr>
        <p:pic>
          <p:nvPicPr>
            <p:cNvPr id="1052" name="Picture 28" descr="Learning Generic Blue icon | Freepik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0144" y="2032264"/>
              <a:ext cx="1095820" cy="1095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/>
            <p:cNvSpPr txBox="1"/>
            <p:nvPr/>
          </p:nvSpPr>
          <p:spPr>
            <a:xfrm>
              <a:off x="4725974" y="3249402"/>
              <a:ext cx="920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Answer</a:t>
              </a:r>
              <a:endParaRPr lang="en-US" dirty="0"/>
            </a:p>
          </p:txBody>
        </p:sp>
      </p:grpSp>
      <p:grpSp>
        <p:nvGrpSpPr>
          <p:cNvPr id="1024" name="Group 1023"/>
          <p:cNvGrpSpPr/>
          <p:nvPr/>
        </p:nvGrpSpPr>
        <p:grpSpPr>
          <a:xfrm>
            <a:off x="2346791" y="-113"/>
            <a:ext cx="1610184" cy="1507177"/>
            <a:chOff x="4485816" y="2289092"/>
            <a:chExt cx="1610184" cy="1507177"/>
          </a:xfrm>
        </p:grpSpPr>
        <p:pic>
          <p:nvPicPr>
            <p:cNvPr id="1036" name="Picture 12" descr="Document Retrieval: Over 1,634 Royalty-Free Licensable Stock Illustrations  &amp; Drawings | Shutterstock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4" t="17908" r="14732" b="18894"/>
            <a:stretch>
              <a:fillRect/>
            </a:stretch>
          </p:blipFill>
          <p:spPr bwMode="auto">
            <a:xfrm>
              <a:off x="4564368" y="2289092"/>
              <a:ext cx="1385208" cy="1172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/>
            <p:cNvSpPr txBox="1"/>
            <p:nvPr/>
          </p:nvSpPr>
          <p:spPr>
            <a:xfrm>
              <a:off x="4485816" y="3426937"/>
              <a:ext cx="1610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Scope filtering</a:t>
              </a:r>
              <a:endParaRPr lang="en-US" dirty="0"/>
            </a:p>
          </p:txBody>
        </p:sp>
      </p:grpSp>
      <p:cxnSp>
        <p:nvCxnSpPr>
          <p:cNvPr id="59" name="Straight Arrow Connector 58"/>
          <p:cNvCxnSpPr/>
          <p:nvPr/>
        </p:nvCxnSpPr>
        <p:spPr>
          <a:xfrm flipH="1">
            <a:off x="3828651" y="528481"/>
            <a:ext cx="1979930" cy="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151868" y="1507270"/>
            <a:ext cx="6985" cy="697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1" name="Straight Arrow Connector 1030"/>
          <p:cNvCxnSpPr>
            <a:stCxn id="17" idx="2"/>
          </p:cNvCxnSpPr>
          <p:nvPr/>
        </p:nvCxnSpPr>
        <p:spPr>
          <a:xfrm>
            <a:off x="6370775" y="1423467"/>
            <a:ext cx="1183005" cy="1135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1" name="Straight Arrow Connector 1040"/>
          <p:cNvCxnSpPr/>
          <p:nvPr/>
        </p:nvCxnSpPr>
        <p:spPr>
          <a:xfrm flipV="1">
            <a:off x="9520349" y="3675417"/>
            <a:ext cx="817245" cy="1227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3" name="Connector: Elbow 1052"/>
          <p:cNvCxnSpPr/>
          <p:nvPr/>
        </p:nvCxnSpPr>
        <p:spPr>
          <a:xfrm rot="16200000">
            <a:off x="7551420" y="2995295"/>
            <a:ext cx="5618480" cy="709930"/>
          </a:xfrm>
          <a:prstGeom prst="bentConnector4">
            <a:avLst>
              <a:gd name="adj1" fmla="val 90"/>
              <a:gd name="adj2" fmla="val 19812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1" name="Group 1060"/>
          <p:cNvGrpSpPr/>
          <p:nvPr/>
        </p:nvGrpSpPr>
        <p:grpSpPr>
          <a:xfrm>
            <a:off x="7210374" y="2467504"/>
            <a:ext cx="2386166" cy="1635177"/>
            <a:chOff x="7530346" y="3008815"/>
            <a:chExt cx="2386166" cy="1635177"/>
          </a:xfrm>
        </p:grpSpPr>
        <p:pic>
          <p:nvPicPr>
            <p:cNvPr id="1054" name="Picture 30" descr="Backend - Free seo and web icons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7941" y="3008815"/>
              <a:ext cx="1228724" cy="1228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9" name="TextBox 1058"/>
            <p:cNvSpPr txBox="1"/>
            <p:nvPr/>
          </p:nvSpPr>
          <p:spPr>
            <a:xfrm>
              <a:off x="7530346" y="4274660"/>
              <a:ext cx="2386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Conversation memory</a:t>
              </a:r>
              <a:endParaRPr lang="en-US" dirty="0"/>
            </a:p>
          </p:txBody>
        </p:sp>
      </p:grpSp>
      <p:cxnSp>
        <p:nvCxnSpPr>
          <p:cNvPr id="1068" name="Straight Arrow Connector 1067"/>
          <p:cNvCxnSpPr/>
          <p:nvPr/>
        </p:nvCxnSpPr>
        <p:spPr>
          <a:xfrm flipV="1">
            <a:off x="10488593" y="1172732"/>
            <a:ext cx="0" cy="773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1856105" y="2209165"/>
            <a:ext cx="2809240" cy="11760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>
              <a:buNone/>
            </a:pPr>
            <a:r>
              <a:rPr lang="en-US" altLang="en-US">
                <a:solidFill>
                  <a:schemeClr val="tx1"/>
                </a:solidFill>
                <a:cs typeface="+mn-lt"/>
              </a:rPr>
              <a:t>Auth &amp; session</a:t>
            </a:r>
            <a:endParaRPr lang="en-US" altLang="en-US">
              <a:solidFill>
                <a:schemeClr val="tx1"/>
              </a:solidFill>
              <a:cs typeface="+mn-lt"/>
            </a:endParaRPr>
          </a:p>
          <a:p>
            <a:pPr indent="0" algn="l">
              <a:buNone/>
            </a:pPr>
            <a:r>
              <a:rPr lang="en-US" altLang="en-US">
                <a:solidFill>
                  <a:schemeClr val="tx1"/>
                </a:solidFill>
                <a:cs typeface="+mn-lt"/>
              </a:rPr>
              <a:t>Safety &amp; scope filtering</a:t>
            </a:r>
            <a:endParaRPr lang="en-US" altLang="en-US">
              <a:solidFill>
                <a:schemeClr val="tx1"/>
              </a:solidFill>
              <a:cs typeface="+mn-lt"/>
            </a:endParaRPr>
          </a:p>
          <a:p>
            <a:pPr indent="0" algn="l">
              <a:buNone/>
            </a:pPr>
            <a:r>
              <a:rPr lang="en-US" altLang="en-US">
                <a:solidFill>
                  <a:schemeClr val="tx1"/>
                </a:solidFill>
                <a:cs typeface="+mn-lt"/>
              </a:rPr>
              <a:t>Hybrid retriever (BM25 + FAISS + RRF)</a:t>
            </a:r>
            <a:endParaRPr lang="en-US" altLang="en-US">
              <a:solidFill>
                <a:schemeClr val="tx1"/>
              </a:solidFill>
              <a:cs typeface="+mn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401185" y="3514725"/>
            <a:ext cx="2809240" cy="11760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sym typeface="+mn-ea"/>
              </a:rPr>
              <a:t>Embedding(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text-embedding-3-small,</a:t>
            </a:r>
            <a:endParaRPr lang="en-US" altLang="en-US" dirty="0">
              <a:solidFill>
                <a:schemeClr val="tx1"/>
              </a:solidFill>
            </a:endParaRPr>
          </a:p>
          <a:p>
            <a:pPr algn="ctr"/>
            <a:r>
              <a:rPr lang="en-US" altLang="en-US" dirty="0">
                <a:solidFill>
                  <a:schemeClr val="tx1"/>
                </a:solidFill>
                <a:sym typeface="+mn-ea"/>
              </a:rPr>
              <a:t>L2-normalized, IndexFlatIP)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n 3"/>
          <p:cNvSpPr/>
          <p:nvPr/>
        </p:nvSpPr>
        <p:spPr>
          <a:xfrm>
            <a:off x="3121660" y="3758565"/>
            <a:ext cx="786130" cy="90614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BM25 Index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an 5"/>
          <p:cNvSpPr/>
          <p:nvPr/>
        </p:nvSpPr>
        <p:spPr>
          <a:xfrm>
            <a:off x="3121660" y="4761865"/>
            <a:ext cx="786130" cy="90614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FAISSIndex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509314" y="3376423"/>
            <a:ext cx="11430" cy="382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</p:cNvCxnSpPr>
          <p:nvPr/>
        </p:nvCxnSpPr>
        <p:spPr>
          <a:xfrm flipH="1" flipV="1">
            <a:off x="1577009" y="5015993"/>
            <a:ext cx="1544955" cy="199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8579940" y="4112692"/>
            <a:ext cx="355600" cy="83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2" idx="3"/>
            <a:endCxn id="3" idx="0"/>
          </p:cNvCxnSpPr>
          <p:nvPr/>
        </p:nvCxnSpPr>
        <p:spPr>
          <a:xfrm>
            <a:off x="4665345" y="2797175"/>
            <a:ext cx="1140460" cy="71755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3" idx="2"/>
            <a:endCxn id="6" idx="4"/>
          </p:cNvCxnSpPr>
          <p:nvPr/>
        </p:nvCxnSpPr>
        <p:spPr>
          <a:xfrm rot="5400000">
            <a:off x="4594543" y="4003993"/>
            <a:ext cx="524510" cy="18980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9674225" y="3023235"/>
            <a:ext cx="2517775" cy="10083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return </a:t>
            </a: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[(chunk, score)]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257290" y="3063875"/>
            <a:ext cx="2806700" cy="10083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argsort(scores)[::1][:top_k]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-&gt; select top_k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3023235"/>
            <a:ext cx="3037840" cy="1008380"/>
            <a:chOff x="0" y="4761"/>
            <a:chExt cx="4784" cy="1588"/>
          </a:xfrm>
        </p:grpSpPr>
        <p:sp>
          <p:nvSpPr>
            <p:cNvPr id="2" name="Rectangles 1"/>
            <p:cNvSpPr/>
            <p:nvPr/>
          </p:nvSpPr>
          <p:spPr>
            <a:xfrm>
              <a:off x="0" y="4761"/>
              <a:ext cx="3946" cy="15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latin typeface="Times New Roman" panose="02020603050405020304" charset="0"/>
                  <a:cs typeface="Times New Roman" panose="02020603050405020304" charset="0"/>
                </a:rPr>
                <a:t>Q</a:t>
              </a:r>
              <a:r>
                <a:rPr lang="en-US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Query -&gt; tokenize</a:t>
              </a:r>
              <a:endPara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(lowercase, keep VN diacritics)</a:t>
              </a:r>
              <a:endPara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3946" y="5579"/>
              <a:ext cx="839" cy="1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114675" y="3023235"/>
            <a:ext cx="3065780" cy="1008380"/>
            <a:chOff x="4905" y="4761"/>
            <a:chExt cx="4828" cy="1588"/>
          </a:xfrm>
        </p:grpSpPr>
        <p:sp>
          <p:nvSpPr>
            <p:cNvPr id="5" name="Rectangles 4"/>
            <p:cNvSpPr/>
            <p:nvPr/>
          </p:nvSpPr>
          <p:spPr>
            <a:xfrm>
              <a:off x="4905" y="4761"/>
              <a:ext cx="3990" cy="15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BM25.get_scores(tokens)</a:t>
              </a:r>
              <a:endPara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-&gt;score per chunk</a:t>
              </a:r>
              <a:endPara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8895" y="5579"/>
              <a:ext cx="839" cy="1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Arrow Connector 8"/>
          <p:cNvCxnSpPr/>
          <p:nvPr/>
        </p:nvCxnSpPr>
        <p:spPr>
          <a:xfrm flipV="1">
            <a:off x="9063990" y="3573145"/>
            <a:ext cx="532765" cy="10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WPS Presentation</Application>
  <PresentationFormat>Widescreen</PresentationFormat>
  <Paragraphs>69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Aptos</vt:lpstr>
      <vt:lpstr>Segoe UI</vt:lpstr>
      <vt:lpstr>Microsoft YaHei</vt:lpstr>
      <vt:lpstr>Arial Unicode MS</vt:lpstr>
      <vt:lpstr>Aptos Display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Đẳng Lê Huỳnh</dc:creator>
  <cp:lastModifiedBy>Huỳnh Như</cp:lastModifiedBy>
  <cp:revision>6</cp:revision>
  <dcterms:created xsi:type="dcterms:W3CDTF">2025-09-17T14:36:00Z</dcterms:created>
  <dcterms:modified xsi:type="dcterms:W3CDTF">2025-12-07T06:51:10Z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BA0CDD6040F04C9489664A8168495496_12</vt:lpwstr>
  </property>
  <property fmtid="{D5CDD505-2E9C-101B-9397-08002B2CF9AE}" pid="3" name="KSOProductBuildVer">
    <vt:lpwstr>1033-12.2.0.23155</vt:lpwstr>
  </property>
</Properties>
</file>